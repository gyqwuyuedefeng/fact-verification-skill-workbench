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522"/>
          </a:solidFill>
          <a:ln>
            <a:solidFill>
              <a:srgbClr val="061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882127" y="-502920"/>
            <a:ext cx="5303520" cy="5303520"/>
          </a:xfrm>
          <a:prstGeom prst="roundRect">
            <a:avLst/>
          </a:prstGeom>
          <a:solidFill>
            <a:srgbClr val="0D7D79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502920"/>
            <a:ext cx="4937760" cy="320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1">
                <a:solidFill>
                  <a:srgbClr val="4FD1C5"/>
                </a:solidFill>
                <a:latin typeface="Consolas"/>
              </a:rPr>
              <a:t>818 AI 全员竞赛 · 模型与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225296"/>
            <a:ext cx="1024128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3900" b="1">
                <a:solidFill>
                  <a:srgbClr val="F6FAFC"/>
                </a:solidFill>
                <a:latin typeface="Microsoft YaHei"/>
              </a:rPr>
              <a:t>企业材料事实核验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85416"/>
            <a:ext cx="9966960" cy="5303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100" b="0">
                <a:solidFill>
                  <a:srgbClr val="9FB6C9"/>
                </a:solidFill>
                <a:latin typeface="Microsoft YaHei"/>
              </a:rPr>
              <a:t>让 Skill 能被验证、被发布，也能被安全回滚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3063240"/>
            <a:ext cx="1152144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3072384"/>
            <a:ext cx="1078992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3063240"/>
            <a:ext cx="1097280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4" y="3072384"/>
            <a:ext cx="1024127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SKILL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55264" y="3063240"/>
            <a:ext cx="987552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3072384"/>
            <a:ext cx="914400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MCP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3063240"/>
            <a:ext cx="1005840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07408" y="3072384"/>
            <a:ext cx="93268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EVAL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8" y="3886200"/>
            <a:ext cx="4709160" cy="16459"/>
          </a:xfrm>
          <a:prstGeom prst="rect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4187952"/>
            <a:ext cx="71323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6F8AA0"/>
                </a:solidFill>
                <a:latin typeface="Consolas"/>
              </a:rPr>
              <a:t>队名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4142232"/>
            <a:ext cx="29260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800" b="1">
                <a:solidFill>
                  <a:srgbClr val="72E8DF"/>
                </a:solidFill>
                <a:latin typeface="Microsoft YaHei"/>
              </a:rPr>
              <a:t>火石验真官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4626864"/>
            <a:ext cx="713232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6F8AA0"/>
                </a:solidFill>
                <a:latin typeface="Consolas"/>
              </a:rPr>
              <a:t>成员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4590288"/>
            <a:ext cx="4754880" cy="34747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600" b="1">
                <a:solidFill>
                  <a:srgbClr val="F6FAFC"/>
                </a:solidFill>
                <a:latin typeface="Microsoft YaHei"/>
              </a:rPr>
              <a:t>高永强 · 高翔宇 · 钱旭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82712" y="5303520"/>
            <a:ext cx="33375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400" b="1">
                <a:solidFill>
                  <a:srgbClr val="72E8DF"/>
                </a:solidFill>
                <a:latin typeface="Microsoft YaHei"/>
              </a:rPr>
              <a:t>AI即岗位，结果即作品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82712" y="5705856"/>
            <a:ext cx="3337560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000" b="0">
                <a:solidFill>
                  <a:srgbClr val="9FB6C9"/>
                </a:solidFill>
                <a:latin typeface="Consolas"/>
              </a:rPr>
              <a:t>可运行 · 可验证 · 可复制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6473952"/>
            <a:ext cx="10872216" cy="16459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6510528"/>
            <a:ext cx="47548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F8AA0"/>
                </a:solidFill>
                <a:latin typeface="Consolas"/>
              </a:rPr>
              <a:t>火石验真官 · AI即岗位，结果即作品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24160" y="6510528"/>
            <a:ext cx="107899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4FD1C5"/>
                </a:solidFill>
                <a:latin typeface="Consolas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01 / 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F6FAFC"/>
                </a:solidFill>
                <a:latin typeface="Microsoft YaHei"/>
              </a:rPr>
              <a:t>为什么做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79576"/>
            <a:ext cx="106984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企业材料进入报告、招商或尽调前，必须先回答“这句话是真的吗？”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719072"/>
            <a:ext cx="3474720" cy="324612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1901952"/>
            <a:ext cx="40233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249424"/>
            <a:ext cx="307238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6FAFC"/>
                </a:solidFill>
                <a:latin typeface="Microsoft YaHei"/>
              </a:rPr>
              <a:t>人工核验慢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697480"/>
            <a:ext cx="3072384" cy="2057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一份材料包含多个主体、指标与风险事实，逐条查询、比对和留痕耗时。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52544" y="1719072"/>
            <a:ext cx="3474720" cy="324612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1901952"/>
            <a:ext cx="40233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F6C85F"/>
                </a:solidFill>
                <a:latin typeface="Consola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249424"/>
            <a:ext cx="307238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6FAFC"/>
                </a:solidFill>
                <a:latin typeface="Microsoft YaHei"/>
              </a:rPr>
              <a:t>通用模型会猜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697480"/>
            <a:ext cx="3072384" cy="2057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模型能读懂文字，但没有企业证据时，容易把语言流畅误当成事实正确。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719072"/>
            <a:ext cx="3474720" cy="324612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901952"/>
            <a:ext cx="402336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FF6B72"/>
                </a:solidFill>
                <a:latin typeface="Consola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249424"/>
            <a:ext cx="3072384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900" b="1">
                <a:solidFill>
                  <a:srgbClr val="F6FAFC"/>
                </a:solidFill>
                <a:latin typeface="Microsoft YaHei"/>
              </a:rPr>
              <a:t>结论不可追溯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697480"/>
            <a:ext cx="3072384" cy="2057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只有“对或错”还不够，业务需要知道原文位置、证据来源与人工边界。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6656" y="5239512"/>
            <a:ext cx="10826496" cy="713232"/>
          </a:xfrm>
          <a:prstGeom prst="roundRect">
            <a:avLst/>
          </a:prstGeom>
          <a:solidFill>
            <a:srgbClr val="0A1D2D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5340096"/>
            <a:ext cx="10369296" cy="43891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6FAFC"/>
                </a:solidFill>
                <a:latin typeface="Microsoft YaHei"/>
              </a:rPr>
              <a:t>我们要回答：材料中的事实，是 已验证、存在冲突，还是证据不足？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6473952"/>
            <a:ext cx="10872216" cy="16459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" y="6510528"/>
            <a:ext cx="47548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F8AA0"/>
                </a:solidFill>
                <a:latin typeface="Consolas"/>
              </a:rPr>
              <a:t>火石验真官 · AI即岗位，结果即作品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24160" y="6510528"/>
            <a:ext cx="107899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4FD1C5"/>
                </a:solidFill>
                <a:latin typeface="Consolas"/>
              </a:rPr>
              <a:t>02 / 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02 /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F6FAFC"/>
                </a:solidFill>
                <a:latin typeface="Microsoft YaHei"/>
              </a:rPr>
              <a:t>我们做了什么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79576"/>
            <a:ext cx="106984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不是让模型自由发挥，而是让 Agent 按固定 Skill 调用只读企业证据。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74519"/>
            <a:ext cx="2139696" cy="210312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057400"/>
            <a:ext cx="4389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505456"/>
            <a:ext cx="1792224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6FAFC"/>
                </a:solidFill>
                <a:latin typeface="Microsoft YaHei"/>
              </a:rPr>
              <a:t>材料输入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136392"/>
            <a:ext cx="1792224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9FB6C9"/>
                </a:solidFill>
                <a:latin typeface="Microsoft YaHei"/>
              </a:rPr>
              <a:t>文本或文件</a:t>
            </a:r>
          </a:p>
        </p:txBody>
      </p:sp>
      <p:sp>
        <p:nvSpPr>
          <p:cNvPr id="9" name="Chevron 8"/>
          <p:cNvSpPr/>
          <p:nvPr/>
        </p:nvSpPr>
        <p:spPr>
          <a:xfrm>
            <a:off x="2944368" y="2660904"/>
            <a:ext cx="457200" cy="502920"/>
          </a:xfrm>
          <a:prstGeom prst="chevron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502152" y="1874519"/>
            <a:ext cx="2139696" cy="210312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8" y="2057400"/>
            <a:ext cx="4389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72E8DF"/>
                </a:solidFill>
                <a:latin typeface="Consola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8" y="2505456"/>
            <a:ext cx="1792224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6FAFC"/>
                </a:solidFill>
                <a:latin typeface="Microsoft YaHei"/>
              </a:rPr>
              <a:t>Agent拆分主张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8" y="3136392"/>
            <a:ext cx="1792224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9FB6C9"/>
                </a:solidFill>
                <a:latin typeface="Microsoft YaHei"/>
              </a:rPr>
              <a:t>主体 · 指标 · 时间</a:t>
            </a:r>
          </a:p>
        </p:txBody>
      </p:sp>
      <p:sp>
        <p:nvSpPr>
          <p:cNvPr id="14" name="Chevron 13"/>
          <p:cNvSpPr/>
          <p:nvPr/>
        </p:nvSpPr>
        <p:spPr>
          <a:xfrm>
            <a:off x="5769864" y="2660904"/>
            <a:ext cx="457200" cy="502920"/>
          </a:xfrm>
          <a:prstGeom prst="chevron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327648" y="1874519"/>
            <a:ext cx="2139696" cy="210312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01384" y="2057400"/>
            <a:ext cx="4389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F6C85F"/>
                </a:solidFill>
                <a:latin typeface="Consola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505456"/>
            <a:ext cx="1792224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6FAFC"/>
                </a:solidFill>
                <a:latin typeface="Microsoft YaHei"/>
              </a:rPr>
              <a:t>只读MCP查证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136392"/>
            <a:ext cx="1792224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9FB6C9"/>
                </a:solidFill>
                <a:latin typeface="Microsoft YaHei"/>
              </a:rPr>
              <a:t>六类企业数据</a:t>
            </a:r>
          </a:p>
        </p:txBody>
      </p:sp>
      <p:sp>
        <p:nvSpPr>
          <p:cNvPr id="19" name="Chevron 18"/>
          <p:cNvSpPr/>
          <p:nvPr/>
        </p:nvSpPr>
        <p:spPr>
          <a:xfrm>
            <a:off x="8595360" y="2660904"/>
            <a:ext cx="457200" cy="502920"/>
          </a:xfrm>
          <a:prstGeom prst="chevron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53144" y="1874519"/>
            <a:ext cx="2139696" cy="210312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0" y="2057400"/>
            <a:ext cx="438912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65D6A8"/>
                </a:solidFill>
                <a:latin typeface="Consola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2505456"/>
            <a:ext cx="1792224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700" b="1">
                <a:solidFill>
                  <a:srgbClr val="F6FAFC"/>
                </a:solidFill>
                <a:latin typeface="Microsoft YaHei"/>
              </a:rPr>
              <a:t>三类可追溯结论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3136392"/>
            <a:ext cx="1792224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100" b="0">
                <a:solidFill>
                  <a:srgbClr val="9FB6C9"/>
                </a:solidFill>
                <a:latin typeface="Microsoft YaHei"/>
              </a:rPr>
              <a:t>验证 · 冲突 · 证据不足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4425696"/>
            <a:ext cx="274320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9FB6C9"/>
                </a:solidFill>
                <a:latin typeface="Microsoft YaHei"/>
              </a:rPr>
              <a:t>可信结果必须能解释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6656" y="4928616"/>
            <a:ext cx="1947672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4937759"/>
            <a:ext cx="1874519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原文定位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98064" y="4928616"/>
            <a:ext cx="2148840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4937759"/>
            <a:ext cx="207568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证据 recordId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120640" y="4928616"/>
            <a:ext cx="2221992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57216" y="4937759"/>
            <a:ext cx="2148840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人工介入边界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0" y="4361688"/>
            <a:ext cx="3730752" cy="1069848"/>
          </a:xfrm>
          <a:prstGeom prst="roundRect">
            <a:avLst/>
          </a:prstGeom>
          <a:solidFill>
            <a:srgbClr val="0A1D2D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10144" y="4489704"/>
            <a:ext cx="3255264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600" b="1">
                <a:solidFill>
                  <a:srgbClr val="72E8DF"/>
                </a:solidFill>
                <a:latin typeface="Microsoft YaHei"/>
              </a:rPr>
              <a:t>一个 Agent + 一个 Skill
+ 六个只读 MCP 工具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6473952"/>
            <a:ext cx="10872216" cy="16459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6510528"/>
            <a:ext cx="47548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F8AA0"/>
                </a:solidFill>
                <a:latin typeface="Consolas"/>
              </a:rPr>
              <a:t>火石验真官 · AI即岗位，结果即作品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07899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4FD1C5"/>
                </a:solidFill>
                <a:latin typeface="Consolas"/>
              </a:rPr>
              <a:t>03 / 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03 / 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F6FAFC"/>
                </a:solidFill>
                <a:latin typeface="Microsoft YaHei"/>
              </a:rPr>
              <a:t>现场演示：一条真实材料如何被核验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76656" y="1261872"/>
            <a:ext cx="1417320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71016"/>
            <a:ext cx="134416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01 输入快照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1261872"/>
            <a:ext cx="1417320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76856" y="1271016"/>
            <a:ext cx="134416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02 执行轨迹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3904" y="1261872"/>
            <a:ext cx="1417320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1271016"/>
            <a:ext cx="1344168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03 核验主张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746504"/>
            <a:ext cx="10881360" cy="4087368"/>
          </a:xfrm>
          <a:prstGeom prst="roundRect">
            <a:avLst/>
          </a:prstGeom>
          <a:solidFill>
            <a:srgbClr val="0C2234"/>
          </a:solidFill>
          <a:ln>
            <a:solidFill>
              <a:srgbClr val="1C45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-普通用户事实核验-解析轨迹与主张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60" y="1883664"/>
            <a:ext cx="6853974" cy="3694176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389888" y="5669280"/>
            <a:ext cx="9409176" cy="438912"/>
          </a:xfrm>
          <a:prstGeom prst="roundRect">
            <a:avLst/>
          </a:prstGeom>
          <a:solidFill>
            <a:srgbClr val="0A1D2D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36192" y="5715000"/>
            <a:ext cx="9125712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200" b="1">
                <a:solidFill>
                  <a:srgbClr val="72E8DF"/>
                </a:solidFill>
                <a:latin typeface="Microsoft YaHei"/>
              </a:rPr>
              <a:t>材料原文、工具调用和结论证据同时留痕，结果可以复核。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6473952"/>
            <a:ext cx="10872216" cy="16459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6510528"/>
            <a:ext cx="47548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F8AA0"/>
                </a:solidFill>
                <a:latin typeface="Consolas"/>
              </a:rPr>
              <a:t>火石验真官 · AI即岗位，结果即作品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510528"/>
            <a:ext cx="107899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4FD1C5"/>
                </a:solidFill>
                <a:latin typeface="Consolas"/>
              </a:rPr>
              <a:t>04 / 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04 / REPRODUCIBLE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F6FAFC"/>
                </a:solidFill>
                <a:latin typeface="Microsoft YaHei"/>
              </a:rPr>
              <a:t>同条件评测：只改变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79576"/>
            <a:ext cx="106984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同一数据集、同一输入、同一模型参数、同一工具与证据快照。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664208"/>
            <a:ext cx="5559552" cy="4197096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47672"/>
            <a:ext cx="146304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9FB6C9"/>
                </a:solidFill>
                <a:latin typeface="Consolas"/>
              </a:rPr>
              <a:t>准确样本数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2395728"/>
            <a:ext cx="1353312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000" b="1">
                <a:solidFill>
                  <a:srgbClr val="FF6B72"/>
                </a:solidFill>
                <a:latin typeface="Consolas"/>
              </a:rPr>
              <a:t>7/30</a:t>
            </a:r>
          </a:p>
        </p:txBody>
      </p:sp>
      <p:sp>
        <p:nvSpPr>
          <p:cNvPr id="8" name="Chevron 7"/>
          <p:cNvSpPr/>
          <p:nvPr/>
        </p:nvSpPr>
        <p:spPr>
          <a:xfrm>
            <a:off x="2340864" y="2459736"/>
            <a:ext cx="475488" cy="502920"/>
          </a:xfrm>
          <a:prstGeom prst="chevron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2395728"/>
            <a:ext cx="1536192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3000" b="1">
                <a:solidFill>
                  <a:srgbClr val="F6C85F"/>
                </a:solidFill>
                <a:latin typeface="Consolas"/>
              </a:rPr>
              <a:t>27/30</a:t>
            </a:r>
          </a:p>
        </p:txBody>
      </p:sp>
      <p:sp>
        <p:nvSpPr>
          <p:cNvPr id="10" name="Chevron 9"/>
          <p:cNvSpPr/>
          <p:nvPr/>
        </p:nvSpPr>
        <p:spPr>
          <a:xfrm>
            <a:off x="4489704" y="2459736"/>
            <a:ext cx="475488" cy="502920"/>
          </a:xfrm>
          <a:prstGeom prst="chevron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395728"/>
            <a:ext cx="1078992" cy="6400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700" b="1">
                <a:solidFill>
                  <a:srgbClr val="65D6A8"/>
                </a:solidFill>
                <a:latin typeface="Consolas"/>
              </a:rPr>
              <a:t>30/30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118104"/>
            <a:ext cx="1353312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9FB6C9"/>
                </a:solidFill>
                <a:latin typeface="Microsoft YaHei"/>
              </a:rPr>
              <a:t>通用模型
BASELINE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118104"/>
            <a:ext cx="1536192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9FB6C9"/>
                </a:solidFill>
                <a:latin typeface="Microsoft YaHei"/>
              </a:rPr>
              <a:t>初始 Skill
STABLE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55464" y="3118104"/>
            <a:ext cx="1261872" cy="56692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0">
                <a:solidFill>
                  <a:srgbClr val="9FB6C9"/>
                </a:solidFill>
                <a:latin typeface="Microsoft YaHei"/>
              </a:rPr>
              <a:t>优化 Skill
CANDIDATE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1832" y="3950208"/>
            <a:ext cx="5029200" cy="16459"/>
          </a:xfrm>
          <a:prstGeom prst="rect">
            <a:avLst/>
          </a:prstGeom>
          <a:solidFill>
            <a:srgbClr val="2147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4197096"/>
            <a:ext cx="192024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72E8DF"/>
                </a:solidFill>
                <a:latin typeface="Microsoft YaHei"/>
              </a:rPr>
              <a:t>八项门禁同时判断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" y="4617720"/>
            <a:ext cx="5029200" cy="7498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300" b="1">
                <a:solidFill>
                  <a:srgbClr val="F6FAFC"/>
                </a:solidFill>
                <a:latin typeface="Microsoft YaHei"/>
              </a:rPr>
              <a:t>准确率 · 完成率 · 稳定性 · 人工介入率
执行成功 · 样本齐全 · 同条件 · 结果可追溯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3096" y="1664208"/>
            <a:ext cx="5020056" cy="4197096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02-三版本同条件评测与门禁.png"/>
          <p:cNvPicPr>
            <a:picLocks noChangeAspect="1"/>
          </p:cNvPicPr>
          <p:nvPr/>
        </p:nvPicPr>
        <p:blipFill>
          <a:blip r:embed="rId2"/>
          <a:srcRect t="2667" b="63998"/>
          <a:stretch>
            <a:fillRect/>
          </a:stretch>
        </p:blipFill>
        <p:spPr>
          <a:xfrm>
            <a:off x="6665976" y="1856231"/>
            <a:ext cx="4654296" cy="3813048"/>
          </a:xfrm>
          <a:prstGeom prst="rect">
            <a:avLst/>
          </a:prstGeom>
        </p:spPr>
      </p:pic>
      <p:sp>
        <p:nvSpPr>
          <p:cNvPr id="20" name="Rectangle 19"/>
          <p:cNvSpPr/>
          <p:nvPr/>
        </p:nvSpPr>
        <p:spPr>
          <a:xfrm>
            <a:off x="658368" y="6473952"/>
            <a:ext cx="10872216" cy="16459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" y="6510528"/>
            <a:ext cx="47548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F8AA0"/>
                </a:solidFill>
                <a:latin typeface="Consolas"/>
              </a:rPr>
              <a:t>火石验真官 · AI即岗位，结果即作品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510528"/>
            <a:ext cx="107899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4FD1C5"/>
                </a:solidFill>
                <a:latin typeface="Consolas"/>
              </a:rPr>
              <a:t>05 / 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05 / SAFE RELEASE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F6FAFC"/>
                </a:solidFill>
                <a:latin typeface="Microsoft YaHei"/>
              </a:rPr>
              <a:t>安全发布：用户始终只看到 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79576"/>
            <a:ext cx="106984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Candidate 在后台影子运行，同一请求双跑，但候选结果不返回给普通用户。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673352"/>
            <a:ext cx="5010912" cy="4270248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32688" y="1956816"/>
            <a:ext cx="484632" cy="484632"/>
          </a:xfrm>
          <a:prstGeom prst="roundRect">
            <a:avLst/>
          </a:prstGeom>
          <a:solidFill>
            <a:srgbClr val="0D7D79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75104"/>
            <a:ext cx="42976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6FAFC"/>
                </a:solidFill>
                <a:latin typeface="Consola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18488" y="1938528"/>
            <a:ext cx="1737360" cy="3017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6FAFC"/>
                </a:solidFill>
                <a:latin typeface="Microsoft YaHei"/>
              </a:rPr>
              <a:t>Candidate 注册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18488" y="2267712"/>
            <a:ext cx="35844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9FB6C9"/>
                </a:solidFill>
                <a:latin typeface="Microsoft YaHei"/>
              </a:rPr>
              <a:t>冻结内容与版本 hash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1288" y="2459736"/>
            <a:ext cx="18288" cy="16459"/>
          </a:xfrm>
          <a:prstGeom prst="rect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" y="2834640"/>
            <a:ext cx="484632" cy="484632"/>
          </a:xfrm>
          <a:prstGeom prst="roundRect">
            <a:avLst/>
          </a:prstGeom>
          <a:solidFill>
            <a:srgbClr val="0D7D79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2852928"/>
            <a:ext cx="42976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6FAFC"/>
                </a:solidFill>
                <a:latin typeface="Consola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18488" y="2816352"/>
            <a:ext cx="1737360" cy="3017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6FAFC"/>
                </a:solidFill>
                <a:latin typeface="Microsoft YaHei"/>
              </a:rPr>
              <a:t>影子灰度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18488" y="3145536"/>
            <a:ext cx="35844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9FB6C9"/>
                </a:solidFill>
                <a:latin typeface="Microsoft YaHei"/>
              </a:rPr>
              <a:t>真实请求双跑、不影响用户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61288" y="3337560"/>
            <a:ext cx="18288" cy="16459"/>
          </a:xfrm>
          <a:prstGeom prst="rect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712464"/>
            <a:ext cx="484632" cy="484632"/>
          </a:xfrm>
          <a:prstGeom prst="roundRect">
            <a:avLst/>
          </a:prstGeom>
          <a:solidFill>
            <a:srgbClr val="0D7D79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730752"/>
            <a:ext cx="42976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6FAFC"/>
                </a:solidFill>
                <a:latin typeface="Consola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18488" y="3694176"/>
            <a:ext cx="1737360" cy="3017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6FAFC"/>
                </a:solidFill>
                <a:latin typeface="Microsoft YaHei"/>
              </a:rPr>
              <a:t>人工 PASS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18488" y="4023360"/>
            <a:ext cx="35844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9FB6C9"/>
                </a:solidFill>
                <a:latin typeface="Microsoft YaHei"/>
              </a:rPr>
              <a:t>查看差异与失败原因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61288" y="4215384"/>
            <a:ext cx="18288" cy="16459"/>
          </a:xfrm>
          <a:prstGeom prst="rect">
            <a:avLst/>
          </a:prstGeom>
          <a:solidFill>
            <a:srgbClr val="0D7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32688" y="4590288"/>
            <a:ext cx="484632" cy="484632"/>
          </a:xfrm>
          <a:prstGeom prst="roundRect">
            <a:avLst/>
          </a:prstGeom>
          <a:solidFill>
            <a:srgbClr val="0D7D79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608575"/>
            <a:ext cx="42976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6FAFC"/>
                </a:solidFill>
                <a:latin typeface="Consola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18488" y="4572000"/>
            <a:ext cx="1737360" cy="30175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400" b="1">
                <a:solidFill>
                  <a:srgbClr val="F6FAFC"/>
                </a:solidFill>
                <a:latin typeface="Microsoft YaHei"/>
              </a:rPr>
              <a:t>晋升 / 回滚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18488" y="4901183"/>
            <a:ext cx="3584448" cy="256032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0">
                <a:solidFill>
                  <a:srgbClr val="9FB6C9"/>
                </a:solidFill>
                <a:latin typeface="Microsoft YaHei"/>
              </a:rPr>
              <a:t>切换 Stable 或恢复上一版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2688" y="5358384"/>
            <a:ext cx="1298448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5367528"/>
            <a:ext cx="1225295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65D6A8"/>
                </a:solidFill>
                <a:latin typeface="Microsoft YaHei"/>
              </a:rPr>
              <a:t>一致 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404872" y="5358384"/>
            <a:ext cx="1298448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41448" y="5367528"/>
            <a:ext cx="1225295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72E8DF"/>
                </a:solidFill>
                <a:latin typeface="Microsoft YaHei"/>
              </a:rPr>
              <a:t>差异 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77056" y="5358384"/>
            <a:ext cx="1298448" cy="329184"/>
          </a:xfrm>
          <a:prstGeom prst="roundRect">
            <a:avLst/>
          </a:prstGeom>
          <a:solidFill>
            <a:srgbClr val="102B40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13632" y="5367528"/>
            <a:ext cx="1225295" cy="28346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000" b="1">
                <a:solidFill>
                  <a:srgbClr val="F6C85F"/>
                </a:solidFill>
                <a:latin typeface="Microsoft YaHei"/>
              </a:rPr>
              <a:t>可回滚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673352"/>
            <a:ext cx="5559552" cy="4270248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03-影子晋升与回滚历史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8778" y="1828800"/>
            <a:ext cx="3569195" cy="3950208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658368" y="6473952"/>
            <a:ext cx="10872216" cy="16459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6510528"/>
            <a:ext cx="47548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F8AA0"/>
                </a:solidFill>
                <a:latin typeface="Consolas"/>
              </a:rPr>
              <a:t>火石验真官 · AI即岗位，结果即作品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424160" y="6510528"/>
            <a:ext cx="107899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4FD1C5"/>
                </a:solidFill>
                <a:latin typeface="Consolas"/>
              </a:rPr>
              <a:t>06 / 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10896"/>
            <a:ext cx="3657600" cy="2743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000" b="1">
                <a:solidFill>
                  <a:srgbClr val="4FD1C5"/>
                </a:solidFill>
                <a:latin typeface="Consolas"/>
              </a:rPr>
              <a:t>06 / NEXT 30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881360" cy="50292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2700" b="1">
                <a:solidFill>
                  <a:srgbClr val="F6FAFC"/>
                </a:solidFill>
                <a:latin typeface="Microsoft YaHei"/>
              </a:rPr>
              <a:t>赛后30天：沉淀为火石智能体通用能力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179576"/>
            <a:ext cx="10698480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0">
                <a:solidFill>
                  <a:srgbClr val="9FB6C9"/>
                </a:solidFill>
                <a:latin typeface="Microsoft YaHei"/>
              </a:rPr>
              <a:t>目标不是只交付一个 Skill，而是让任意 Skill 都具备版本、评测、灰度与回滚能力。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6656" y="1874519"/>
            <a:ext cx="2542032" cy="251460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093976"/>
            <a:ext cx="212140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4FD1C5"/>
                </a:solidFill>
                <a:latin typeface="Consolas"/>
              </a:rPr>
              <a:t>1—7天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660904"/>
            <a:ext cx="212140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F6FAFC"/>
                </a:solidFill>
                <a:latin typeface="Microsoft YaHei"/>
              </a:rPr>
              <a:t>统一治理合同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55264"/>
            <a:ext cx="2121408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9FB6C9"/>
                </a:solidFill>
                <a:latin typeface="Microsoft YaHei"/>
              </a:rPr>
              <a:t>版本状态、评测口径、发布边界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8144" y="1874519"/>
            <a:ext cx="2542032" cy="251460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2093976"/>
            <a:ext cx="212140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72E8DF"/>
                </a:solidFill>
                <a:latin typeface="Consolas"/>
              </a:rPr>
              <a:t>8—14天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2660904"/>
            <a:ext cx="212140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F6FAFC"/>
                </a:solidFill>
                <a:latin typeface="Microsoft YaHei"/>
              </a:rPr>
              <a:t>版本与评测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3255264"/>
            <a:ext cx="2121408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9FB6C9"/>
                </a:solidFill>
                <a:latin typeface="Microsoft YaHei"/>
              </a:rPr>
              <a:t>接入现有智能体管理端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9632" y="1874519"/>
            <a:ext cx="2542032" cy="251460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093976"/>
            <a:ext cx="212140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F6C85F"/>
                </a:solidFill>
                <a:latin typeface="Consolas"/>
              </a:rPr>
              <a:t>15—21天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660904"/>
            <a:ext cx="212140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F6FAFC"/>
                </a:solidFill>
                <a:latin typeface="Microsoft YaHei"/>
              </a:rPr>
              <a:t>通用影子灰度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55264"/>
            <a:ext cx="2121408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9FB6C9"/>
                </a:solidFill>
                <a:latin typeface="Microsoft YaHei"/>
              </a:rPr>
              <a:t>真实流量观察与一键回滚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874519"/>
            <a:ext cx="2542032" cy="2514600"/>
          </a:xfrm>
          <a:prstGeom prst="roundRect">
            <a:avLst/>
          </a:prstGeom>
          <a:solidFill>
            <a:srgbClr val="0C2234"/>
          </a:solidFill>
          <a:ln>
            <a:solidFill>
              <a:srgbClr val="173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62288" y="2093976"/>
            <a:ext cx="2121408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200" b="1">
                <a:solidFill>
                  <a:srgbClr val="65D6A8"/>
                </a:solidFill>
                <a:latin typeface="Consolas"/>
              </a:rPr>
              <a:t>22—30天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660904"/>
            <a:ext cx="2121408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1700" b="1">
                <a:solidFill>
                  <a:srgbClr val="F6FAFC"/>
                </a:solidFill>
                <a:latin typeface="Microsoft YaHei"/>
              </a:rPr>
              <a:t>第二 Skill 验收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3255264"/>
            <a:ext cx="2121408" cy="70408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100" b="0">
                <a:solidFill>
                  <a:srgbClr val="9FB6C9"/>
                </a:solidFill>
                <a:latin typeface="Microsoft YaHei"/>
              </a:rPr>
              <a:t>验证能力不依赖单一场景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99032" y="4846320"/>
            <a:ext cx="9390888" cy="804672"/>
          </a:xfrm>
          <a:prstGeom prst="roundRect">
            <a:avLst/>
          </a:prstGeom>
          <a:solidFill>
            <a:srgbClr val="0A1D2D"/>
          </a:solidFill>
          <a:ln>
            <a:solidFill>
              <a:srgbClr val="0D7D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609344" y="4992624"/>
            <a:ext cx="8961120" cy="420624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1900" b="1">
                <a:solidFill>
                  <a:srgbClr val="72E8DF"/>
                </a:solidFill>
                <a:latin typeface="Microsoft YaHei"/>
              </a:rPr>
              <a:t>不是只做一个 Skill，而是补齐火石智能体的 Skill 治理闭环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92040" y="5833872"/>
            <a:ext cx="2414016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/>
            <a:r>
              <a:rPr sz="2100" b="1">
                <a:solidFill>
                  <a:srgbClr val="F6FAFC"/>
                </a:solidFill>
                <a:latin typeface="Microsoft YaHei"/>
              </a:rPr>
              <a:t>谢谢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473952"/>
            <a:ext cx="10872216" cy="16459"/>
          </a:xfrm>
          <a:prstGeom prst="rect">
            <a:avLst/>
          </a:prstGeom>
          <a:solidFill>
            <a:srgbClr val="183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6510528"/>
            <a:ext cx="4754880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/>
            <a:r>
              <a:rPr sz="800" b="0">
                <a:solidFill>
                  <a:srgbClr val="6F8AA0"/>
                </a:solidFill>
                <a:latin typeface="Consolas"/>
              </a:rPr>
              <a:t>火石验真官 · AI即岗位，结果即作品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0" y="6510528"/>
            <a:ext cx="1078992" cy="182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800" b="1">
                <a:solidFill>
                  <a:srgbClr val="4FD1C5"/>
                </a:solidFill>
                <a:latin typeface="Consola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火石验真官——企业材料事实核验</dc:title>
  <dc:subject>818 AI 全员竞赛答辩演示</dc:subject>
  <dc:creator>高永强、高翔宇、钱旭</dc:creator>
  <cp:keywords/>
  <dc:description>由项目内生成脚本产生，支持复现。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